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Skala AI-lösningar genom återanvändbara integrations- och AI-komponenter. Det är kombinationen som skapar verklig verksamhetsnytta.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skapar snabbt nya möjligheter för svenska företag och organisationer. Generativ AI, intelligenta agenter, prediktiva modeller och automatiserade beslutsstöd kan effektivisera processer, förbättra kundupplevelser och skapa helt nya arbetssätt.</a:t>
            </a:r>
          </a:p>
          <a:p>
            <a:r>
              <a:t>Men för att AI ska skapa verklig verksamhetsnytta räcker det sällan med en bra AI-modell eller ett framgångsrikt pilotprojekt.</a:t>
            </a:r>
          </a:p>
          <a:p>
            <a:r>
              <a:t>AI behöver tillgång till rätt information, i rätt sammanhang, vid rätt tidpunkt, och resultaten från AI behöver kunna omsättas i verksamhetens befintliga processer och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När AI-initiativ drivs separat från integrations- och arkitekturarbetet uppstår ofta samma typer av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Resultatet blir att organisationen har investerat i AI, men inte byggt förmågan att skala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g"/><Relationship Id="rId8" Type="http://schemas.openxmlformats.org/officeDocument/2006/relationships/notesSlide" Target="../notesSlides/notesSlide1.xml"/><Relationship Id="rId9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4.jpg"/><Relationship Id="rId6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web_cover.jpg"/>
          <p:cNvPicPr>
            <a:picLocks noChangeAspect="1"/>
          </p:cNvPicPr>
          <p:nvPr/>
        </p:nvPicPr>
        <p:blipFill>
          <a:blip r:embed="rId2"/>
          <a:srcRect t="1044" b="1044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Freeform 2"/>
          <p:cNvSpPr/>
          <p:nvPr/>
        </p:nvSpPr>
        <p:spPr>
          <a:xfrm>
            <a:off x="0" y="0"/>
            <a:ext cx="12192000" cy="4650000"/>
          </a:xfrm>
          <a:custGeom>
            <a:avLst/>
            <a:gdLst/>
            <a:ahLst/>
            <a:cxnLst/>
            <a:rect l="l" t="t" r="r" b="b"/>
            <a:pathLst>
              <a:path w="12192000" h="4650000">
                <a:moveTo>
                  <a:pt x="0" y="0"/>
                </a:moveTo>
                <a:lnTo>
                  <a:pt x="12192000" y="0"/>
                </a:lnTo>
                <a:lnTo>
                  <a:pt x="12192000" y="2557500"/>
                </a:lnTo>
                <a:lnTo>
                  <a:pt x="990000" y="4650000"/>
                </a:lnTo>
                <a:lnTo>
                  <a:pt x="0" y="3813000"/>
                </a:lnTo>
                <a:close/>
              </a:path>
            </a:pathLst>
          </a:custGeom>
          <a:solidFill>
            <a:srgbClr val="F4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00" y="420000"/>
            <a:ext cx="1636363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99500" y="470000"/>
            <a:ext cx="12525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C008C"/>
                </a:solidFill>
                <a:latin typeface="Roboto Condensed Medium"/>
              </a:rPr>
              <a:t>Nästa steg</a:t>
            </a:r>
          </a:p>
        </p:txBody>
      </p:sp>
      <p:sp>
        <p:nvSpPr>
          <p:cNvPr id="6" name="Freeform 5"/>
          <p:cNvSpPr/>
          <p:nvPr/>
        </p:nvSpPr>
        <p:spPr>
          <a:xfrm>
            <a:off x="10199500" y="800000"/>
            <a:ext cx="952500" cy="45000"/>
          </a:xfrm>
          <a:custGeom>
            <a:avLst/>
            <a:gdLst/>
            <a:ahLst/>
            <a:cxnLst/>
            <a:rect l="l" t="t" r="r" b="b"/>
            <a:pathLst>
              <a:path w="952500" h="45000">
                <a:moveTo>
                  <a:pt x="0" y="13500"/>
                </a:moveTo>
                <a:lnTo>
                  <a:pt x="952500" y="0"/>
                </a:lnTo>
                <a:lnTo>
                  <a:pt x="952500" y="31500"/>
                </a:lnTo>
                <a:lnTo>
                  <a:pt x="0" y="45000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56500" y="470000"/>
            <a:ext cx="1443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Roboto Condensed Medium"/>
              </a:rPr>
              <a:t>Genomförande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9250" y="470000"/>
            <a:ext cx="115725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Roboto Condensed Medium"/>
              </a:rPr>
              <a:t>Lösningen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6250" y="470000"/>
            <a:ext cx="1443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Roboto Condensed Medium"/>
              </a:rPr>
              <a:t>Utgångsläget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000" y="145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Erbjudande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000" y="1720000"/>
            <a:ext cx="9000000" cy="12338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9600" b="0">
                <a:solidFill>
                  <a:srgbClr val="000000"/>
                </a:solidFill>
                <a:latin typeface="Roboto Condensed Medium"/>
              </a:rPr>
              <a:t>AI +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000" y="3000000"/>
            <a:ext cx="6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600" b="0">
                <a:solidFill>
                  <a:srgbClr val="4C4A4A"/>
                </a:solidFill>
                <a:latin typeface="Roboto Condensed"/>
              </a:rPr>
              <a:t>Från AI-potential till verksamhetsnytta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000" y="3650000"/>
            <a:ext cx="300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60">
                <a:solidFill>
                  <a:srgbClr val="BFBFBF"/>
                </a:solidFill>
                <a:latin typeface="Roboto Condensed"/>
              </a:rPr>
              <a:t>2026-08-19</a:t>
            </a:r>
          </a:p>
        </p:txBody>
      </p:sp>
    </p:spTree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35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Erbjudandet i korthet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700000"/>
            <a:ext cx="10212000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200" b="0">
                <a:solidFill>
                  <a:srgbClr val="000000"/>
                </a:solidFill>
                <a:latin typeface="Roboto Condensed Medium"/>
              </a:rPr>
              <a:t>Vi gör AI-potential till verksamhetsnytta.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4000000"/>
            <a:ext cx="80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600" b="0">
                <a:solidFill>
                  <a:srgbClr val="4C4A4A"/>
                </a:solidFill>
                <a:latin typeface="Roboto Condensed"/>
              </a:rPr>
              <a:t>Vi kombinerar AI-kompetens med integrations- och arkitekturkompetens.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5200000"/>
            <a:ext cx="74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4C4A4A"/>
                </a:solidFill>
                <a:latin typeface="Roboto"/>
              </a:rPr>
              <a:t>Så hjälper vi svenska företag och organisationer att omsätta AI-potential till verklig verksamhetsnytta.</a:t>
            </a:r>
          </a:p>
        </p:txBody>
      </p:sp>
      <p:pic>
        <p:nvPicPr>
          <p:cNvPr id="6" name="Picture 5" descr="ic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Så skapar vi nytta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Vi hjälper kunden att</a:t>
            </a:r>
          </a:p>
        </p:txBody>
      </p:sp>
      <p:pic>
        <p:nvPicPr>
          <p:cNvPr id="4" name="Picture 3" descr="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2450000"/>
            <a:ext cx="498701" cy="4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000" y="309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Identifiera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var AI kan skapa störst nytta</a:t>
            </a:r>
          </a:p>
        </p:txBody>
      </p:sp>
      <p:pic>
        <p:nvPicPr>
          <p:cNvPr id="6" name="Picture 5" descr="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000" y="2450000"/>
            <a:ext cx="545454" cy="4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44000" y="309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Förstå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vilka data, system och processer som krävs</a:t>
            </a:r>
          </a:p>
        </p:txBody>
      </p:sp>
      <p:pic>
        <p:nvPicPr>
          <p:cNvPr id="8" name="Picture 7" descr="cloud-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000" y="2450000"/>
            <a:ext cx="451764" cy="4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8000" y="309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Integrera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AI med verksamhetens befintliga IT-landskap</a:t>
            </a:r>
          </a:p>
        </p:txBody>
      </p:sp>
      <p:pic>
        <p:nvPicPr>
          <p:cNvPr id="10" name="Picture 9" descr="ti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000" y="4600000"/>
            <a:ext cx="476426" cy="4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000" y="524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Automatisera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processer och omsätta resultat i handling</a:t>
            </a:r>
          </a:p>
        </p:txBody>
      </p:sp>
      <p:pic>
        <p:nvPicPr>
          <p:cNvPr id="12" name="Picture 11" descr="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000" y="4600000"/>
            <a:ext cx="250325" cy="48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44000" y="524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Skala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AI med återanvändbara komponenter</a:t>
            </a:r>
          </a:p>
        </p:txBody>
      </p:sp>
      <p:pic>
        <p:nvPicPr>
          <p:cNvPr id="14" name="Picture 13" descr="_web_kontor-21.jpg"/>
          <p:cNvPicPr>
            <a:picLocks noChangeAspect="1"/>
          </p:cNvPicPr>
          <p:nvPr/>
        </p:nvPicPr>
        <p:blipFill>
          <a:blip r:embed="rId7"/>
          <a:srcRect t="10266" b="10266"/>
          <a:stretch>
            <a:fillRect/>
          </a:stretch>
        </p:blipFill>
        <p:spPr>
          <a:xfrm>
            <a:off x="8098000" y="4600000"/>
            <a:ext cx="3104000" cy="1850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"/>
                </a:moveTo>
                <a:lnTo>
                  <a:pt x="4000" y="0"/>
                </a:lnTo>
                <a:lnTo>
                  <a:pt x="98000" y="2000"/>
                </a:lnTo>
                <a:lnTo>
                  <a:pt x="100000" y="12000"/>
                </a:lnTo>
                <a:lnTo>
                  <a:pt x="96000" y="100000"/>
                </a:lnTo>
                <a:lnTo>
                  <a:pt x="2000" y="96000"/>
                </a:lnTo>
                <a:close/>
              </a:path>
            </a:pathLst>
          </a:custGeom>
        </p:spPr>
      </p:pic>
      <p:pic>
        <p:nvPicPr>
          <p:cNvPr id="15" name="Picture 14" descr="icon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web_kontor-24.jpg"/>
          <p:cNvPicPr>
            <a:picLocks noChangeAspect="1"/>
          </p:cNvPicPr>
          <p:nvPr/>
        </p:nvPicPr>
        <p:blipFill>
          <a:blip r:embed="rId2"/>
          <a:srcRect t="10471" b="1047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Freeform 2"/>
          <p:cNvSpPr/>
          <p:nvPr/>
        </p:nvSpPr>
        <p:spPr>
          <a:xfrm>
            <a:off x="540000" y="1879000"/>
            <a:ext cx="9700000" cy="3500000"/>
          </a:xfrm>
          <a:custGeom>
            <a:avLst/>
            <a:gdLst/>
            <a:ahLst/>
            <a:cxnLst/>
            <a:rect l="l" t="t" r="r" b="b"/>
            <a:pathLst>
              <a:path w="9700000" h="3500000">
                <a:moveTo>
                  <a:pt x="0" y="105000"/>
                </a:moveTo>
                <a:lnTo>
                  <a:pt x="388000" y="0"/>
                </a:lnTo>
                <a:lnTo>
                  <a:pt x="9409000" y="70000"/>
                </a:lnTo>
                <a:lnTo>
                  <a:pt x="9700000" y="210000"/>
                </a:lnTo>
                <a:lnTo>
                  <a:pt x="9506000" y="3290000"/>
                </a:lnTo>
                <a:lnTo>
                  <a:pt x="9118000" y="3500000"/>
                </a:lnTo>
                <a:lnTo>
                  <a:pt x="194000" y="3395000"/>
                </a:lnTo>
                <a:lnTo>
                  <a:pt x="0" y="32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ci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00" y="2429000"/>
            <a:ext cx="711281" cy="6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40000" y="2329000"/>
            <a:ext cx="7750000" cy="20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Roboto Condensed"/>
              </a:rPr>
              <a:t>AI skapar potentialen. Integration gör det möjligt att realisera 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0000" y="4429000"/>
            <a:ext cx="775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Det är kombinationen som skapar verklig verksamhetsnytta.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web_workshop_tavla_3.jp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Freeform 2"/>
          <p:cNvSpPr/>
          <p:nvPr/>
        </p:nvSpPr>
        <p:spPr>
          <a:xfrm>
            <a:off x="540000" y="2908000"/>
            <a:ext cx="8500000" cy="3300000"/>
          </a:xfrm>
          <a:custGeom>
            <a:avLst/>
            <a:gdLst/>
            <a:ahLst/>
            <a:cxnLst/>
            <a:rect l="l" t="t" r="r" b="b"/>
            <a:pathLst>
              <a:path w="8500000" h="3300000">
                <a:moveTo>
                  <a:pt x="0" y="99000"/>
                </a:moveTo>
                <a:lnTo>
                  <a:pt x="340000" y="0"/>
                </a:lnTo>
                <a:lnTo>
                  <a:pt x="8245000" y="66000"/>
                </a:lnTo>
                <a:lnTo>
                  <a:pt x="8500000" y="198000"/>
                </a:lnTo>
                <a:lnTo>
                  <a:pt x="8330000" y="3102000"/>
                </a:lnTo>
                <a:lnTo>
                  <a:pt x="7990000" y="3300000"/>
                </a:lnTo>
                <a:lnTo>
                  <a:pt x="170000" y="3201000"/>
                </a:lnTo>
                <a:lnTo>
                  <a:pt x="0" y="3069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000" y="3358000"/>
            <a:ext cx="7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Utgångsläget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708000"/>
            <a:ext cx="7600000" cy="1737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b="0">
                <a:solidFill>
                  <a:srgbClr val="000000"/>
                </a:solidFill>
                <a:latin typeface="Roboto Condensed Medium"/>
              </a:rPr>
              <a:t>Varför AI behöver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5525359"/>
            <a:ext cx="7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4C4A4A"/>
                </a:solidFill>
                <a:latin typeface="Roboto Condensed"/>
              </a:rPr>
              <a:t>En bra AI-modell räcker sällan för att skapa verksamhetsnytta.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350000"/>
            <a:ext cx="5200000" cy="51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Utgångsläget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En bra AI-modell räcker sällan</a:t>
            </a:r>
          </a:p>
          <a:p>
            <a:pPr algn="l">
              <a:lnSpc>
                <a:spcPct val="135000"/>
              </a:lnSpc>
              <a:spcBef>
                <a:spcPts val="2200"/>
              </a:spcBef>
            </a:pPr>
            <a:r>
              <a:rPr sz="2000" b="0">
                <a:solidFill>
                  <a:srgbClr val="000000"/>
                </a:solidFill>
                <a:latin typeface="Roboto"/>
              </a:rPr>
              <a:t>Generativ AI, agenter och prediktiva modeller kan effektivisera processer. Men en pilot skapar ingen nytta på egen hand.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2000" b="1">
                <a:solidFill>
                  <a:srgbClr val="000000"/>
                </a:solidFill>
                <a:latin typeface="Roboto"/>
              </a:rPr>
              <a:t>AI behöver rätt information vid rätt tidpunkt, och resultatet måste kunna användas i befintliga processer.</a:t>
            </a:r>
          </a:p>
        </p:txBody>
      </p:sp>
      <p:pic>
        <p:nvPicPr>
          <p:cNvPr id="3" name="Picture 2" descr="_web_kontor-8.jpg"/>
          <p:cNvPicPr>
            <a:picLocks noChangeAspect="1"/>
          </p:cNvPicPr>
          <p:nvPr/>
        </p:nvPicPr>
        <p:blipFill>
          <a:blip r:embed="rId2"/>
          <a:srcRect l="20516" r="20516"/>
          <a:stretch>
            <a:fillRect/>
          </a:stretch>
        </p:blipFill>
        <p:spPr>
          <a:xfrm>
            <a:off x="6800000" y="0"/>
            <a:ext cx="5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8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Två beroenden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AI och integration behöver varandra</a:t>
            </a:r>
          </a:p>
        </p:txBody>
      </p:sp>
      <p:pic>
        <p:nvPicPr>
          <p:cNvPr id="4" name="Picture 3" descr="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2700000"/>
            <a:ext cx="795454" cy="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000" y="3650000"/>
            <a:ext cx="4656000" cy="2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0000"/>
                </a:solidFill>
                <a:latin typeface="Roboto Condensed"/>
              </a:rPr>
              <a:t>AI behöver data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2000" b="0">
                <a:solidFill>
                  <a:srgbClr val="4C4A4A"/>
                </a:solidFill>
                <a:latin typeface="Roboto"/>
              </a:rPr>
              <a:t>Datan finns oftast redan, men den är spridd över affärssystem, CRM, ekonomisystem, dokument, databaser och API.</a:t>
            </a:r>
          </a:p>
        </p:txBody>
      </p:sp>
      <p:pic>
        <p:nvPicPr>
          <p:cNvPr id="6" name="Picture 5" descr="arrow-up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000" y="2700000"/>
            <a:ext cx="584551" cy="7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46000" y="3650000"/>
            <a:ext cx="4656000" cy="2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0000"/>
                </a:solidFill>
                <a:latin typeface="Roboto Condensed"/>
              </a:rPr>
              <a:t>Resultatet behöver en process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2000" b="0">
                <a:solidFill>
                  <a:srgbClr val="4C4A4A"/>
                </a:solidFill>
                <a:latin typeface="Roboto"/>
              </a:rPr>
              <a:t>En AI som hittar en kundmöjlighet skapar lite värde om resultatet stannar där. Nyttan uppstår när det förs tillbaka till CRM och påverkar nästa steg.</a:t>
            </a:r>
          </a:p>
        </p:txBody>
      </p:sp>
      <p:pic>
        <p:nvPicPr>
          <p:cNvPr id="8" name="Picture 7" descr="icon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15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Därför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500000"/>
            <a:ext cx="10212000" cy="3127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600" b="0">
                <a:solidFill>
                  <a:srgbClr val="000000"/>
                </a:solidFill>
                <a:latin typeface="Roboto Condensed Medium"/>
              </a:rPr>
              <a:t>AI-arkitektur och integrationsarkitektur behöver utvecklas tillsammans.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4700000"/>
            <a:ext cx="4806000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0000"/>
                </a:solidFill>
                <a:latin typeface="Roboto"/>
              </a:rPr>
              <a:t>AI behöver integration för att få tillgång till verksamhetens information och kunna agera i dess processer.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6000" y="4700000"/>
            <a:ext cx="4806000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4C4A4A"/>
                </a:solidFill>
                <a:latin typeface="Roboto"/>
              </a:rPr>
              <a:t>Traditionella integrationer är byggda för förutsägbara flöden. AI kräver att data, modeller, agenter och beslut samverkar dynamiskt.</a:t>
            </a:r>
          </a:p>
        </p:txBody>
      </p:sp>
      <p:pic>
        <p:nvPicPr>
          <p:cNvPr id="6" name="Picture 5" descr="ic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web_kontor-19.jpg"/>
          <p:cNvPicPr>
            <a:picLocks noChangeAspect="1"/>
          </p:cNvPicPr>
          <p:nvPr/>
        </p:nvPicPr>
        <p:blipFill>
          <a:blip r:embed="rId2"/>
          <a:srcRect l="20472" r="20472"/>
          <a:stretch>
            <a:fillRect/>
          </a:stretch>
        </p:blipFill>
        <p:spPr>
          <a:xfrm>
            <a:off x="0" y="0"/>
            <a:ext cx="5400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92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6150000" y="1350000"/>
            <a:ext cx="5052000" cy="51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Vårt erbjudande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Integration är en avgörande förmåga</a:t>
            </a:r>
          </a:p>
          <a:p>
            <a:pPr algn="l">
              <a:lnSpc>
                <a:spcPct val="135000"/>
              </a:lnSpc>
              <a:spcBef>
                <a:spcPts val="2200"/>
              </a:spcBef>
            </a:pPr>
            <a:r>
              <a:rPr sz="2000" b="0">
                <a:solidFill>
                  <a:srgbClr val="000000"/>
                </a:solidFill>
                <a:latin typeface="Roboto"/>
              </a:rPr>
              <a:t>Vi hjälper organisationer att gå från isolerade AI-initiativ till lösningar som är integrerade med data, system och processer.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2000" b="1">
                <a:solidFill>
                  <a:srgbClr val="000000"/>
                </a:solidFill>
                <a:latin typeface="Roboto"/>
              </a:rPr>
              <a:t>Vi bygger förmågan att använda AI där den gör störst skillnad.</a:t>
            </a:r>
          </a:p>
        </p:txBody>
      </p:sp>
      <p:pic>
        <p:nvPicPr>
          <p:cNvPr id="4" name="Picture 3" descr="i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Riskerna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Vad händer om beroendet inte hanteras?</a:t>
            </a:r>
          </a:p>
        </p:txBody>
      </p:sp>
      <p:pic>
        <p:nvPicPr>
          <p:cNvPr id="4" name="Picture 3" descr="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2450000"/>
            <a:ext cx="545454" cy="4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000" y="309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AI blir isolerat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Fastnar i piloten och är svår att integrera.</a:t>
            </a:r>
          </a:p>
        </p:txBody>
      </p:sp>
      <p:pic>
        <p:nvPicPr>
          <p:cNvPr id="6" name="Picture 5" descr="cloud-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000" y="2450000"/>
            <a:ext cx="451764" cy="4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44000" y="309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Data blir ett hinder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AI saknar aktuell och fullständig information.</a:t>
            </a:r>
          </a:p>
        </p:txBody>
      </p:sp>
      <p:pic>
        <p:nvPicPr>
          <p:cNvPr id="8" name="Picture 7" descr="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000" y="2450000"/>
            <a:ext cx="476426" cy="4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8000" y="309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Manuella steg kvarstår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Information kopieras fortfarande för hand.</a:t>
            </a:r>
          </a:p>
        </p:txBody>
      </p:sp>
      <p:pic>
        <p:nvPicPr>
          <p:cNvPr id="10" name="Picture 9" descr="arrow-up-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000" y="4600000"/>
            <a:ext cx="400835" cy="4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000" y="524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AI skapar inte handling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Resultatet når aldrig verksamhetens processer.</a:t>
            </a:r>
          </a:p>
        </p:txBody>
      </p:sp>
      <p:pic>
        <p:nvPicPr>
          <p:cNvPr id="12" name="Picture 11" descr="mark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000" y="4600000"/>
            <a:ext cx="552000" cy="419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44000" y="524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Teknisk skuld byggs upp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Punktlösningar och dubbla datakällor.</a:t>
            </a:r>
          </a:p>
        </p:txBody>
      </p:sp>
      <p:pic>
        <p:nvPicPr>
          <p:cNvPr id="14" name="Picture 13" descr="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000" y="4600000"/>
            <a:ext cx="250325" cy="48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8000" y="5240000"/>
            <a:ext cx="3104000" cy="14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Skalningen blir dyr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Komplexiteten växer med varje nytt system.</a:t>
            </a:r>
          </a:p>
        </p:txBody>
      </p:sp>
      <p:pic>
        <p:nvPicPr>
          <p:cNvPr id="16" name="Picture 15" descr="icon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00000"/>
            <a:ext cx="12192000" cy="4700000"/>
          </a:xfrm>
          <a:custGeom>
            <a:avLst/>
            <a:gdLst/>
            <a:ahLst/>
            <a:cxnLst/>
            <a:rect l="l" t="t" r="r" b="b"/>
            <a:pathLst>
              <a:path w="12192000" h="4700000">
                <a:moveTo>
                  <a:pt x="0" y="141000"/>
                </a:moveTo>
                <a:lnTo>
                  <a:pt x="7559040" y="0"/>
                </a:lnTo>
                <a:lnTo>
                  <a:pt x="12192000" y="94000"/>
                </a:lnTo>
                <a:lnTo>
                  <a:pt x="12192000" y="4559000"/>
                </a:lnTo>
                <a:lnTo>
                  <a:pt x="4632960" y="4700000"/>
                </a:lnTo>
                <a:lnTo>
                  <a:pt x="0" y="4606000"/>
                </a:lnTo>
                <a:close/>
              </a:path>
            </a:pathLst>
          </a:custGeom>
          <a:solidFill>
            <a:srgbClr val="F4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000" y="19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Resultatet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300000"/>
            <a:ext cx="10212000" cy="3127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600" b="0">
                <a:solidFill>
                  <a:srgbClr val="000000"/>
                </a:solidFill>
                <a:latin typeface="Roboto Condensed Medium"/>
              </a:rPr>
              <a:t>Investerat i AI, men inte byggt förmågan att skala AI.</a:t>
            </a:r>
          </a:p>
        </p:txBody>
      </p:sp>
      <p:pic>
        <p:nvPicPr>
          <p:cNvPr id="5" name="Picture 4" descr="i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web_powerpoint-13.jp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Freeform 2"/>
          <p:cNvSpPr/>
          <p:nvPr/>
        </p:nvSpPr>
        <p:spPr>
          <a:xfrm>
            <a:off x="540000" y="2908000"/>
            <a:ext cx="8500000" cy="3300000"/>
          </a:xfrm>
          <a:custGeom>
            <a:avLst/>
            <a:gdLst/>
            <a:ahLst/>
            <a:cxnLst/>
            <a:rect l="l" t="t" r="r" b="b"/>
            <a:pathLst>
              <a:path w="8500000" h="3300000">
                <a:moveTo>
                  <a:pt x="0" y="99000"/>
                </a:moveTo>
                <a:lnTo>
                  <a:pt x="340000" y="0"/>
                </a:lnTo>
                <a:lnTo>
                  <a:pt x="8245000" y="66000"/>
                </a:lnTo>
                <a:lnTo>
                  <a:pt x="8500000" y="198000"/>
                </a:lnTo>
                <a:lnTo>
                  <a:pt x="8330000" y="3102000"/>
                </a:lnTo>
                <a:lnTo>
                  <a:pt x="7990000" y="3300000"/>
                </a:lnTo>
                <a:lnTo>
                  <a:pt x="170000" y="3201000"/>
                </a:lnTo>
                <a:lnTo>
                  <a:pt x="0" y="3069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000" y="3358000"/>
            <a:ext cx="7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Lösningen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708000"/>
            <a:ext cx="7600000" cy="1737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b="0">
                <a:solidFill>
                  <a:srgbClr val="000000"/>
                </a:solidFill>
                <a:latin typeface="Roboto Condensed Medium"/>
              </a:rPr>
              <a:t>Vår lösning: AI +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5525359"/>
            <a:ext cx="7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4C4A4A"/>
                </a:solidFill>
                <a:latin typeface="Roboto Condensed"/>
              </a:rPr>
              <a:t>Tre kompetensområden som tillsammans gör AI skalbart.</a:t>
            </a:r>
          </a:p>
        </p:txBody>
      </p:sp>
    </p:spTree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Kompetensområden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Tre områden, en helhet</a:t>
            </a:r>
          </a:p>
        </p:txBody>
      </p:sp>
      <p:pic>
        <p:nvPicPr>
          <p:cNvPr id="4" name="Picture 3" descr="_web_kontor-6.jpg"/>
          <p:cNvPicPr>
            <a:picLocks noChangeAspect="1"/>
          </p:cNvPicPr>
          <p:nvPr/>
        </p:nvPicPr>
        <p:blipFill>
          <a:blip r:embed="rId2"/>
          <a:srcRect t="2749" b="2749"/>
          <a:stretch>
            <a:fillRect/>
          </a:stretch>
        </p:blipFill>
        <p:spPr>
          <a:xfrm>
            <a:off x="990000" y="2450000"/>
            <a:ext cx="3104000" cy="2200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7000" y="0"/>
                </a:moveTo>
                <a:lnTo>
                  <a:pt x="94000" y="2000"/>
                </a:lnTo>
                <a:lnTo>
                  <a:pt x="100000" y="10000"/>
                </a:lnTo>
                <a:lnTo>
                  <a:pt x="98000" y="90000"/>
                </a:lnTo>
                <a:lnTo>
                  <a:pt x="93000" y="100000"/>
                </a:lnTo>
                <a:lnTo>
                  <a:pt x="5000" y="97000"/>
                </a:lnTo>
                <a:lnTo>
                  <a:pt x="0" y="88000"/>
                </a:lnTo>
                <a:lnTo>
                  <a:pt x="2000" y="8000"/>
                </a:lnTo>
                <a:close/>
              </a:path>
            </a:pathLst>
          </a:custGeom>
        </p:spPr>
      </p:pic>
      <p:sp>
        <p:nvSpPr>
          <p:cNvPr id="5" name="TextBox 4"/>
          <p:cNvSpPr txBox="1"/>
          <p:nvPr/>
        </p:nvSpPr>
        <p:spPr>
          <a:xfrm>
            <a:off x="990000" y="4900000"/>
            <a:ext cx="3104000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00000"/>
                </a:solidFill>
                <a:latin typeface="Roboto Condensed"/>
              </a:rPr>
              <a:t>AI-förmågor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AI-tillämpningar som skapar konkret verksamhetsnytta.</a:t>
            </a:r>
          </a:p>
        </p:txBody>
      </p:sp>
      <p:pic>
        <p:nvPicPr>
          <p:cNvPr id="6" name="Picture 5" descr="_web_kontor-22.jpg"/>
          <p:cNvPicPr>
            <a:picLocks noChangeAspect="1"/>
          </p:cNvPicPr>
          <p:nvPr/>
        </p:nvPicPr>
        <p:blipFill>
          <a:blip r:embed="rId3"/>
          <a:srcRect t="2749" b="2749"/>
          <a:stretch>
            <a:fillRect/>
          </a:stretch>
        </p:blipFill>
        <p:spPr>
          <a:xfrm>
            <a:off x="4544000" y="2450000"/>
            <a:ext cx="3104000" cy="2200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"/>
                </a:moveTo>
                <a:lnTo>
                  <a:pt x="4000" y="0"/>
                </a:lnTo>
                <a:lnTo>
                  <a:pt x="98000" y="2000"/>
                </a:lnTo>
                <a:lnTo>
                  <a:pt x="100000" y="12000"/>
                </a:lnTo>
                <a:lnTo>
                  <a:pt x="96000" y="100000"/>
                </a:lnTo>
                <a:lnTo>
                  <a:pt x="2000" y="96000"/>
                </a:lnTo>
                <a:close/>
              </a:path>
            </a:pathLst>
          </a:custGeom>
        </p:spPr>
      </p:pic>
      <p:sp>
        <p:nvSpPr>
          <p:cNvPr id="7" name="TextBox 6"/>
          <p:cNvSpPr txBox="1"/>
          <p:nvPr/>
        </p:nvSpPr>
        <p:spPr>
          <a:xfrm>
            <a:off x="4544000" y="4900000"/>
            <a:ext cx="3104000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00000"/>
                </a:solidFill>
                <a:latin typeface="Roboto Condensed"/>
              </a:rPr>
              <a:t>Integrationsförmågor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AI som kommunicerar med befintliga system och data.</a:t>
            </a:r>
          </a:p>
        </p:txBody>
      </p:sp>
      <p:pic>
        <p:nvPicPr>
          <p:cNvPr id="8" name="Picture 7" descr="_web_whiteboard-3.jpg"/>
          <p:cNvPicPr>
            <a:picLocks noChangeAspect="1"/>
          </p:cNvPicPr>
          <p:nvPr/>
        </p:nvPicPr>
        <p:blipFill>
          <a:blip r:embed="rId4"/>
          <a:srcRect t="2749" b="2749"/>
          <a:stretch>
            <a:fillRect/>
          </a:stretch>
        </p:blipFill>
        <p:spPr>
          <a:xfrm>
            <a:off x="8098000" y="2450000"/>
            <a:ext cx="3104000" cy="2200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7000" y="0"/>
                </a:moveTo>
                <a:lnTo>
                  <a:pt x="94000" y="2000"/>
                </a:lnTo>
                <a:lnTo>
                  <a:pt x="100000" y="10000"/>
                </a:lnTo>
                <a:lnTo>
                  <a:pt x="98000" y="90000"/>
                </a:lnTo>
                <a:lnTo>
                  <a:pt x="93000" y="100000"/>
                </a:lnTo>
                <a:lnTo>
                  <a:pt x="5000" y="97000"/>
                </a:lnTo>
                <a:lnTo>
                  <a:pt x="0" y="88000"/>
                </a:lnTo>
                <a:lnTo>
                  <a:pt x="2000" y="8000"/>
                </a:lnTo>
                <a:close/>
              </a:path>
            </a:pathLst>
          </a:custGeom>
        </p:spPr>
      </p:pic>
      <p:sp>
        <p:nvSpPr>
          <p:cNvPr id="9" name="TextBox 8"/>
          <p:cNvSpPr txBox="1"/>
          <p:nvPr/>
        </p:nvSpPr>
        <p:spPr>
          <a:xfrm>
            <a:off x="8098000" y="4900000"/>
            <a:ext cx="3104000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00000"/>
                </a:solidFill>
                <a:latin typeface="Roboto Condensed"/>
              </a:rPr>
              <a:t>Arkitektur och governance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Principer för kontrollerad skalning av AI och integration.</a:t>
            </a:r>
          </a:p>
        </p:txBody>
      </p:sp>
      <p:pic>
        <p:nvPicPr>
          <p:cNvPr id="10" name="Picture 9" descr="icon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7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Kompetensområde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50000"/>
            <a:ext cx="750000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000000"/>
                </a:solidFill>
                <a:latin typeface="Roboto Condensed Medium"/>
              </a:rPr>
              <a:t>AI-förmågor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450000"/>
            <a:ext cx="72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Vi hjälper organisationen att identifiera och utveckla AI-tillämpningar som skapar konkret verksamhetsnytta.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750000"/>
            <a:ext cx="7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Exempel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4120000"/>
            <a:ext cx="357500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Generativ AI och AI-assistenter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AI-agenter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Intelligent automatisering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Prediktiv analys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5000" y="4120000"/>
            <a:ext cx="357500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Dokument- och informationshantering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AI-baserat beslutsstöd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RAG och kunskapslösningar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AI-integration mot processer</a:t>
            </a:r>
          </a:p>
        </p:txBody>
      </p:sp>
      <p:pic>
        <p:nvPicPr>
          <p:cNvPr id="8" name="Picture 7" descr="_web_dator-1.jpg"/>
          <p:cNvPicPr>
            <a:picLocks noChangeAspect="1"/>
          </p:cNvPicPr>
          <p:nvPr/>
        </p:nvPicPr>
        <p:blipFill>
          <a:blip r:embed="rId2"/>
          <a:srcRect l="31452" r="31452"/>
          <a:stretch>
            <a:fillRect/>
          </a:stretch>
        </p:blipFill>
        <p:spPr>
          <a:xfrm>
            <a:off x="8800000" y="0"/>
            <a:ext cx="3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2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7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Kompetensområde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50000"/>
            <a:ext cx="750000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000000"/>
                </a:solidFill>
                <a:latin typeface="Roboto Condensed Medium"/>
              </a:rPr>
              <a:t>Integrationsförmågor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450000"/>
            <a:ext cx="72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Vi säkerställer att AI-lösningarna kan kommunicera med organisationens befintliga system och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750000"/>
            <a:ext cx="7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Exempel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4120000"/>
            <a:ext cx="3575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API-management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Systemintegration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Event-driven architecture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Integration as a Service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Data- och informationsflöden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5000" y="4120000"/>
            <a:ext cx="3575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Microservices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Workflow och orchestration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Molnintegration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SaaS- och verksamhetssystem</a:t>
            </a:r>
          </a:p>
        </p:txBody>
      </p:sp>
      <p:pic>
        <p:nvPicPr>
          <p:cNvPr id="8" name="Picture 7" descr="_web_powerpoint-9.jpg"/>
          <p:cNvPicPr>
            <a:picLocks noChangeAspect="1"/>
          </p:cNvPicPr>
          <p:nvPr/>
        </p:nvPicPr>
        <p:blipFill>
          <a:blip r:embed="rId2"/>
          <a:srcRect l="36082" r="36082"/>
          <a:stretch>
            <a:fillRect/>
          </a:stretch>
        </p:blipFill>
        <p:spPr>
          <a:xfrm>
            <a:off x="8800000" y="0"/>
            <a:ext cx="3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2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7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Kompetensområde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50000"/>
            <a:ext cx="750000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000000"/>
                </a:solidFill>
                <a:latin typeface="Roboto Condensed Medium"/>
              </a:rPr>
              <a:t>Arkitektur och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450000"/>
            <a:ext cx="72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Vi skapar de gemensamma principer som krävs för att AI och integration ska kunna skalas på ett kontrollerat sätt.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750000"/>
            <a:ext cx="7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Exempel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4120000"/>
            <a:ext cx="357500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 och integrationsarkitektur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Data governance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Informationssäkerhet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Identitet och åtkomst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5000" y="4120000"/>
            <a:ext cx="357500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API- och integrationsstandarder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Observability och monitorering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Governance för AI-agenter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Återanvändbara komponenter</a:t>
            </a:r>
          </a:p>
        </p:txBody>
      </p:sp>
      <p:pic>
        <p:nvPicPr>
          <p:cNvPr id="8" name="Picture 7" descr="_web_workshop_tavla_1.jpg"/>
          <p:cNvPicPr>
            <a:picLocks noChangeAspect="1"/>
          </p:cNvPicPr>
          <p:nvPr/>
        </p:nvPicPr>
        <p:blipFill>
          <a:blip r:embed="rId2"/>
          <a:srcRect l="33513" r="33513"/>
          <a:stretch>
            <a:fillRect/>
          </a:stretch>
        </p:blipFill>
        <p:spPr>
          <a:xfrm>
            <a:off x="8800000" y="0"/>
            <a:ext cx="3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2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Från pilot till verksamhet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1042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400" b="0">
                <a:solidFill>
                  <a:srgbClr val="000000"/>
                </a:solidFill>
                <a:latin typeface="Roboto Condensed Medium"/>
              </a:rPr>
              <a:t>Vi bygger inte AI för AI:s skull.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50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Vi utgår från verksamhetens processer och identifierar var AI kan skapa mätbar nytta. Ett typiskt scenario:</a:t>
            </a:r>
          </a:p>
        </p:txBody>
      </p:sp>
      <p:sp>
        <p:nvSpPr>
          <p:cNvPr id="5" name="Freeform 4"/>
          <p:cNvSpPr/>
          <p:nvPr/>
        </p:nvSpPr>
        <p:spPr>
          <a:xfrm>
            <a:off x="1006603" y="3760500"/>
            <a:ext cx="1643730" cy="1039500"/>
          </a:xfrm>
          <a:custGeom>
            <a:avLst/>
            <a:gdLst/>
            <a:ahLst/>
            <a:cxnLst/>
            <a:rect l="l" t="t" r="r" b="b"/>
            <a:pathLst>
              <a:path w="1643730" h="1039500">
                <a:moveTo>
                  <a:pt x="0" y="31500"/>
                </a:moveTo>
                <a:lnTo>
                  <a:pt x="1413730" y="0"/>
                </a:lnTo>
                <a:lnTo>
                  <a:pt x="1643730" y="514500"/>
                </a:lnTo>
                <a:lnTo>
                  <a:pt x="1413730" y="997500"/>
                </a:lnTo>
                <a:lnTo>
                  <a:pt x="16604" y="1039500"/>
                </a:lnTo>
                <a:close/>
              </a:path>
            </a:pathLst>
          </a:custGeom>
          <a:solidFill>
            <a:srgbClr val="31AB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000" y="3750000"/>
            <a:ext cx="1384333" cy="10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Kunddata</a:t>
            </a:r>
          </a:p>
        </p:txBody>
      </p:sp>
      <p:sp>
        <p:nvSpPr>
          <p:cNvPr id="7" name="Freeform 6"/>
          <p:cNvSpPr/>
          <p:nvPr/>
        </p:nvSpPr>
        <p:spPr>
          <a:xfrm>
            <a:off x="2716937" y="3760500"/>
            <a:ext cx="1643730" cy="1039500"/>
          </a:xfrm>
          <a:custGeom>
            <a:avLst/>
            <a:gdLst/>
            <a:ahLst/>
            <a:cxnLst/>
            <a:rect l="l" t="t" r="r" b="b"/>
            <a:pathLst>
              <a:path w="1643730" h="1039500">
                <a:moveTo>
                  <a:pt x="0" y="31500"/>
                </a:moveTo>
                <a:lnTo>
                  <a:pt x="1413730" y="0"/>
                </a:lnTo>
                <a:lnTo>
                  <a:pt x="1643730" y="514500"/>
                </a:lnTo>
                <a:lnTo>
                  <a:pt x="1413730" y="997500"/>
                </a:lnTo>
                <a:lnTo>
                  <a:pt x="16603" y="1039500"/>
                </a:lnTo>
                <a:lnTo>
                  <a:pt x="167396" y="514500"/>
                </a:lnTo>
                <a:close/>
              </a:path>
            </a:pathLst>
          </a:custGeom>
          <a:solidFill>
            <a:srgbClr val="F9B80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333" y="3750000"/>
            <a:ext cx="1223333" cy="10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0000"/>
                </a:solidFill>
                <a:latin typeface="Roboto Condensed"/>
              </a:rPr>
              <a:t>Integration</a:t>
            </a:r>
          </a:p>
        </p:txBody>
      </p:sp>
      <p:sp>
        <p:nvSpPr>
          <p:cNvPr id="9" name="Freeform 8"/>
          <p:cNvSpPr/>
          <p:nvPr/>
        </p:nvSpPr>
        <p:spPr>
          <a:xfrm>
            <a:off x="4427270" y="3760500"/>
            <a:ext cx="1643730" cy="1039500"/>
          </a:xfrm>
          <a:custGeom>
            <a:avLst/>
            <a:gdLst/>
            <a:ahLst/>
            <a:cxnLst/>
            <a:rect l="l" t="t" r="r" b="b"/>
            <a:pathLst>
              <a:path w="1643730" h="1039500">
                <a:moveTo>
                  <a:pt x="0" y="31500"/>
                </a:moveTo>
                <a:lnTo>
                  <a:pt x="1413730" y="0"/>
                </a:lnTo>
                <a:lnTo>
                  <a:pt x="1643730" y="514500"/>
                </a:lnTo>
                <a:lnTo>
                  <a:pt x="1413730" y="997500"/>
                </a:lnTo>
                <a:lnTo>
                  <a:pt x="16603" y="1039500"/>
                </a:lnTo>
                <a:lnTo>
                  <a:pt x="167397" y="514500"/>
                </a:lnTo>
                <a:close/>
              </a:path>
            </a:pathLst>
          </a:custGeom>
          <a:solidFill>
            <a:srgbClr val="E301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666" y="3750000"/>
            <a:ext cx="1223333" cy="10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AI-analys</a:t>
            </a:r>
          </a:p>
        </p:txBody>
      </p:sp>
      <p:sp>
        <p:nvSpPr>
          <p:cNvPr id="11" name="Freeform 10"/>
          <p:cNvSpPr/>
          <p:nvPr/>
        </p:nvSpPr>
        <p:spPr>
          <a:xfrm>
            <a:off x="6137603" y="3760500"/>
            <a:ext cx="1643730" cy="1039500"/>
          </a:xfrm>
          <a:custGeom>
            <a:avLst/>
            <a:gdLst/>
            <a:ahLst/>
            <a:cxnLst/>
            <a:rect l="l" t="t" r="r" b="b"/>
            <a:pathLst>
              <a:path w="1643730" h="1039500">
                <a:moveTo>
                  <a:pt x="0" y="31500"/>
                </a:moveTo>
                <a:lnTo>
                  <a:pt x="1413730" y="0"/>
                </a:lnTo>
                <a:lnTo>
                  <a:pt x="1643730" y="514500"/>
                </a:lnTo>
                <a:lnTo>
                  <a:pt x="1413730" y="997500"/>
                </a:lnTo>
                <a:lnTo>
                  <a:pt x="16604" y="1039500"/>
                </a:lnTo>
                <a:lnTo>
                  <a:pt x="167397" y="514500"/>
                </a:lnTo>
                <a:close/>
              </a:path>
            </a:pathLst>
          </a:custGeom>
          <a:solidFill>
            <a:srgbClr val="FFD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8000" y="3750000"/>
            <a:ext cx="1223333" cy="10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0000"/>
                </a:solidFill>
                <a:latin typeface="Roboto Condensed"/>
              </a:rPr>
              <a:t>Beslut</a:t>
            </a:r>
          </a:p>
        </p:txBody>
      </p:sp>
      <p:sp>
        <p:nvSpPr>
          <p:cNvPr id="13" name="Freeform 12"/>
          <p:cNvSpPr/>
          <p:nvPr/>
        </p:nvSpPr>
        <p:spPr>
          <a:xfrm>
            <a:off x="7847937" y="3760500"/>
            <a:ext cx="1643730" cy="1039500"/>
          </a:xfrm>
          <a:custGeom>
            <a:avLst/>
            <a:gdLst/>
            <a:ahLst/>
            <a:cxnLst/>
            <a:rect l="l" t="t" r="r" b="b"/>
            <a:pathLst>
              <a:path w="1643730" h="1039500">
                <a:moveTo>
                  <a:pt x="0" y="31500"/>
                </a:moveTo>
                <a:lnTo>
                  <a:pt x="1413730" y="0"/>
                </a:lnTo>
                <a:lnTo>
                  <a:pt x="1643730" y="514500"/>
                </a:lnTo>
                <a:lnTo>
                  <a:pt x="1413730" y="997500"/>
                </a:lnTo>
                <a:lnTo>
                  <a:pt x="16603" y="1039500"/>
                </a:lnTo>
                <a:lnTo>
                  <a:pt x="167396" y="514500"/>
                </a:lnTo>
                <a:close/>
              </a:path>
            </a:pathLst>
          </a:custGeom>
          <a:solidFill>
            <a:srgbClr val="1BA6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8333" y="3750000"/>
            <a:ext cx="1223333" cy="10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Verksamhets- system</a:t>
            </a:r>
          </a:p>
        </p:txBody>
      </p:sp>
      <p:sp>
        <p:nvSpPr>
          <p:cNvPr id="15" name="Freeform 14"/>
          <p:cNvSpPr/>
          <p:nvPr/>
        </p:nvSpPr>
        <p:spPr>
          <a:xfrm>
            <a:off x="9558270" y="3760500"/>
            <a:ext cx="1643730" cy="1039500"/>
          </a:xfrm>
          <a:custGeom>
            <a:avLst/>
            <a:gdLst/>
            <a:ahLst/>
            <a:cxnLst/>
            <a:rect l="l" t="t" r="r" b="b"/>
            <a:pathLst>
              <a:path w="1643730" h="1039500">
                <a:moveTo>
                  <a:pt x="0" y="31500"/>
                </a:moveTo>
                <a:lnTo>
                  <a:pt x="1413730" y="0"/>
                </a:lnTo>
                <a:lnTo>
                  <a:pt x="1643730" y="514500"/>
                </a:lnTo>
                <a:lnTo>
                  <a:pt x="1413730" y="997500"/>
                </a:lnTo>
                <a:lnTo>
                  <a:pt x="16603" y="1039500"/>
                </a:lnTo>
                <a:lnTo>
                  <a:pt x="167397" y="514500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8666" y="3750000"/>
            <a:ext cx="1223333" cy="10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Automatiserad åtgärd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000" y="52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00000"/>
                </a:solidFill>
                <a:latin typeface="Roboto"/>
              </a:rPr>
              <a:t>Så blir AI en del av verksamhetens process i stället för ytterligare ett fristående verktyg.</a:t>
            </a:r>
          </a:p>
        </p:txBody>
      </p:sp>
      <p:pic>
        <p:nvPicPr>
          <p:cNvPr id="18" name="Picture 17" descr="ic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Effekter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Vilken nytta kan skapas?</a:t>
            </a:r>
          </a:p>
        </p:txBody>
      </p:sp>
      <p:pic>
        <p:nvPicPr>
          <p:cNvPr id="4" name="Picture 3" descr="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2300000"/>
            <a:ext cx="476426" cy="4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000" y="2940000"/>
            <a:ext cx="4656000" cy="15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Effektivare processer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AI automatiserar analys, dokumenthantering, klassificering och sökning.</a:t>
            </a:r>
          </a:p>
        </p:txBody>
      </p:sp>
      <p:pic>
        <p:nvPicPr>
          <p:cNvPr id="6" name="Picture 5" descr="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000" y="2300000"/>
            <a:ext cx="498701" cy="4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46000" y="2940000"/>
            <a:ext cx="4656000" cy="15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Bättre beslutsstöd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Information från flera system ger medarbetare bättre underlag.</a:t>
            </a:r>
          </a:p>
        </p:txBody>
      </p:sp>
      <p:pic>
        <p:nvPicPr>
          <p:cNvPr id="8" name="Picture 7" descr="thumbs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00" y="4550000"/>
            <a:ext cx="530386" cy="4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000" y="5190000"/>
            <a:ext cx="4656000" cy="15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Bättre kundupplevelse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Mer relevanta svar, rekommendationer och automatiserade tjänster.</a:t>
            </a:r>
          </a:p>
        </p:txBody>
      </p:sp>
      <p:pic>
        <p:nvPicPr>
          <p:cNvPr id="10" name="Picture 9" descr="cloud-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000" y="4550000"/>
            <a:ext cx="451764" cy="4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46000" y="5190000"/>
            <a:ext cx="4656000" cy="15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Snabbare informationsflöden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Data i realtid eller nära realtid via API och eventdrivna integrationer.</a:t>
            </a:r>
          </a:p>
        </p:txBody>
      </p:sp>
      <p:pic>
        <p:nvPicPr>
          <p:cNvPr id="12" name="Picture 11" descr="icon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Effekter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Vilken nytta kan skapas?</a:t>
            </a:r>
          </a:p>
        </p:txBody>
      </p:sp>
      <p:pic>
        <p:nvPicPr>
          <p:cNvPr id="4" name="Picture 3" descr="arrow-up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2300000"/>
            <a:ext cx="400835" cy="4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000" y="2940000"/>
            <a:ext cx="4656000" cy="15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Automatiserade arbetsflöden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AI kan initiera eller genomföra nästa steg i processen.</a:t>
            </a:r>
          </a:p>
        </p:txBody>
      </p:sp>
      <p:pic>
        <p:nvPicPr>
          <p:cNvPr id="6" name="Picture 5" descr="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000" y="2300000"/>
            <a:ext cx="250325" cy="4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46000" y="2940000"/>
            <a:ext cx="4656000" cy="15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Skalbar AI-användning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Nya AI-tillämpningar utan att varje lösning byggs från grunden.</a:t>
            </a:r>
          </a:p>
        </p:txBody>
      </p:sp>
      <p:pic>
        <p:nvPicPr>
          <p:cNvPr id="8" name="Picture 7" descr="no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00" y="4550000"/>
            <a:ext cx="545454" cy="4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000" y="5190000"/>
            <a:ext cx="4656000" cy="15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0000"/>
                </a:solidFill>
                <a:latin typeface="Roboto Condensed"/>
              </a:rPr>
              <a:t>Lägre kostnad och komplexitet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800" b="0">
                <a:solidFill>
                  <a:srgbClr val="4C4A4A"/>
                </a:solidFill>
                <a:latin typeface="Roboto"/>
              </a:rPr>
              <a:t>Återanvändbara integrationer och komponenter i stället för punktlösningar.</a:t>
            </a:r>
          </a:p>
        </p:txBody>
      </p:sp>
      <p:pic>
        <p:nvPicPr>
          <p:cNvPr id="10" name="Picture 9" descr="_web_kontor-16.jpg"/>
          <p:cNvPicPr>
            <a:picLocks noChangeAspect="1"/>
          </p:cNvPicPr>
          <p:nvPr/>
        </p:nvPicPr>
        <p:blipFill>
          <a:blip r:embed="rId5"/>
          <a:srcRect t="22079" b="22079"/>
          <a:stretch>
            <a:fillRect/>
          </a:stretch>
        </p:blipFill>
        <p:spPr>
          <a:xfrm>
            <a:off x="6546000" y="4550000"/>
            <a:ext cx="4656000" cy="1950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"/>
                </a:moveTo>
                <a:lnTo>
                  <a:pt x="4000" y="0"/>
                </a:lnTo>
                <a:lnTo>
                  <a:pt x="98000" y="2000"/>
                </a:lnTo>
                <a:lnTo>
                  <a:pt x="100000" y="12000"/>
                </a:lnTo>
                <a:lnTo>
                  <a:pt x="96000" y="100000"/>
                </a:lnTo>
                <a:lnTo>
                  <a:pt x="2000" y="96000"/>
                </a:lnTo>
                <a:close/>
              </a:path>
            </a:pathLst>
          </a:custGeom>
        </p:spPr>
      </p:pic>
      <p:pic>
        <p:nvPicPr>
          <p:cNvPr id="11" name="Picture 10" descr="icon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web_powerpoint-10.jp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Freeform 2"/>
          <p:cNvSpPr/>
          <p:nvPr/>
        </p:nvSpPr>
        <p:spPr>
          <a:xfrm>
            <a:off x="540000" y="2908000"/>
            <a:ext cx="8500000" cy="3300000"/>
          </a:xfrm>
          <a:custGeom>
            <a:avLst/>
            <a:gdLst/>
            <a:ahLst/>
            <a:cxnLst/>
            <a:rect l="l" t="t" r="r" b="b"/>
            <a:pathLst>
              <a:path w="8500000" h="3300000">
                <a:moveTo>
                  <a:pt x="0" y="99000"/>
                </a:moveTo>
                <a:lnTo>
                  <a:pt x="340000" y="0"/>
                </a:lnTo>
                <a:lnTo>
                  <a:pt x="8245000" y="66000"/>
                </a:lnTo>
                <a:lnTo>
                  <a:pt x="8500000" y="198000"/>
                </a:lnTo>
                <a:lnTo>
                  <a:pt x="8330000" y="3102000"/>
                </a:lnTo>
                <a:lnTo>
                  <a:pt x="7990000" y="3300000"/>
                </a:lnTo>
                <a:lnTo>
                  <a:pt x="170000" y="3201000"/>
                </a:lnTo>
                <a:lnTo>
                  <a:pt x="0" y="3069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000" y="3358000"/>
            <a:ext cx="7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Genomförande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708000"/>
            <a:ext cx="7600000" cy="1737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b="0">
                <a:solidFill>
                  <a:srgbClr val="000000"/>
                </a:solidFill>
                <a:latin typeface="Roboto Condensed Medium"/>
              </a:rPr>
              <a:t>Så genomför vi ett AI- och integrationsprojekt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5525359"/>
            <a:ext cx="7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4C4A4A"/>
                </a:solidFill>
                <a:latin typeface="Roboto Condensed"/>
              </a:rPr>
              <a:t>Sex steg från idé till skalbar lösning.</a:t>
            </a:r>
          </a:p>
        </p:txBody>
      </p:sp>
    </p:spTree>
  </p:cSld>
  <p:clrMapOvr>
    <a:masterClrMapping/>
  </p:clrMapOvr>
  <p:transition spd="med">
    <p:push dir="u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Genomförande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Sex steg från idé till skalbar lösning</a:t>
            </a:r>
          </a:p>
        </p:txBody>
      </p:sp>
      <p:sp>
        <p:nvSpPr>
          <p:cNvPr id="4" name="Freeform 3"/>
          <p:cNvSpPr/>
          <p:nvPr/>
        </p:nvSpPr>
        <p:spPr>
          <a:xfrm>
            <a:off x="1006603" y="2761000"/>
            <a:ext cx="1643730" cy="1089000"/>
          </a:xfrm>
          <a:custGeom>
            <a:avLst/>
            <a:gdLst/>
            <a:ahLst/>
            <a:cxnLst/>
            <a:rect l="l" t="t" r="r" b="b"/>
            <a:pathLst>
              <a:path w="1643730" h="1089000">
                <a:moveTo>
                  <a:pt x="0" y="33000"/>
                </a:moveTo>
                <a:lnTo>
                  <a:pt x="1413730" y="0"/>
                </a:lnTo>
                <a:lnTo>
                  <a:pt x="1643730" y="539000"/>
                </a:lnTo>
                <a:lnTo>
                  <a:pt x="1413730" y="1045000"/>
                </a:lnTo>
                <a:lnTo>
                  <a:pt x="16604" y="1089000"/>
                </a:lnTo>
                <a:close/>
              </a:path>
            </a:pathLst>
          </a:custGeom>
          <a:solidFill>
            <a:srgbClr val="31AB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000" y="2750000"/>
            <a:ext cx="1384333" cy="11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Roboto Condensed"/>
              </a:rPr>
              <a:t>Steg 1</a:t>
            </a:r>
          </a:p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Assessment</a:t>
            </a:r>
          </a:p>
        </p:txBody>
      </p:sp>
      <p:sp>
        <p:nvSpPr>
          <p:cNvPr id="6" name="Freeform 5"/>
          <p:cNvSpPr/>
          <p:nvPr/>
        </p:nvSpPr>
        <p:spPr>
          <a:xfrm>
            <a:off x="2716937" y="2761000"/>
            <a:ext cx="1643730" cy="1089000"/>
          </a:xfrm>
          <a:custGeom>
            <a:avLst/>
            <a:gdLst/>
            <a:ahLst/>
            <a:cxnLst/>
            <a:rect l="l" t="t" r="r" b="b"/>
            <a:pathLst>
              <a:path w="1643730" h="1089000">
                <a:moveTo>
                  <a:pt x="0" y="33000"/>
                </a:moveTo>
                <a:lnTo>
                  <a:pt x="1413730" y="0"/>
                </a:lnTo>
                <a:lnTo>
                  <a:pt x="1643730" y="539000"/>
                </a:lnTo>
                <a:lnTo>
                  <a:pt x="1413730" y="1045000"/>
                </a:lnTo>
                <a:lnTo>
                  <a:pt x="16603" y="1089000"/>
                </a:lnTo>
                <a:lnTo>
                  <a:pt x="167396" y="539000"/>
                </a:lnTo>
                <a:close/>
              </a:path>
            </a:pathLst>
          </a:custGeom>
          <a:solidFill>
            <a:srgbClr val="F9B80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7333" y="2750000"/>
            <a:ext cx="1223333" cy="11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0000"/>
                </a:solidFill>
                <a:latin typeface="Roboto Condensed"/>
              </a:rPr>
              <a:t>Steg 2</a:t>
            </a:r>
          </a:p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0000"/>
                </a:solidFill>
                <a:latin typeface="Roboto Condensed"/>
              </a:rPr>
              <a:t>Mål- arkitektur</a:t>
            </a:r>
          </a:p>
        </p:txBody>
      </p:sp>
      <p:sp>
        <p:nvSpPr>
          <p:cNvPr id="8" name="Freeform 7"/>
          <p:cNvSpPr/>
          <p:nvPr/>
        </p:nvSpPr>
        <p:spPr>
          <a:xfrm>
            <a:off x="4427270" y="2761000"/>
            <a:ext cx="1643730" cy="1089000"/>
          </a:xfrm>
          <a:custGeom>
            <a:avLst/>
            <a:gdLst/>
            <a:ahLst/>
            <a:cxnLst/>
            <a:rect l="l" t="t" r="r" b="b"/>
            <a:pathLst>
              <a:path w="1643730" h="1089000">
                <a:moveTo>
                  <a:pt x="0" y="33000"/>
                </a:moveTo>
                <a:lnTo>
                  <a:pt x="1413730" y="0"/>
                </a:lnTo>
                <a:lnTo>
                  <a:pt x="1643730" y="539000"/>
                </a:lnTo>
                <a:lnTo>
                  <a:pt x="1413730" y="1045000"/>
                </a:lnTo>
                <a:lnTo>
                  <a:pt x="16603" y="1089000"/>
                </a:lnTo>
                <a:lnTo>
                  <a:pt x="167397" y="539000"/>
                </a:lnTo>
                <a:close/>
              </a:path>
            </a:pathLst>
          </a:custGeom>
          <a:solidFill>
            <a:srgbClr val="E301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666" y="2750000"/>
            <a:ext cx="1223333" cy="11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Roboto Condensed"/>
              </a:rPr>
              <a:t>Steg 3</a:t>
            </a:r>
          </a:p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Use case</a:t>
            </a:r>
          </a:p>
        </p:txBody>
      </p:sp>
      <p:sp>
        <p:nvSpPr>
          <p:cNvPr id="10" name="Freeform 9"/>
          <p:cNvSpPr/>
          <p:nvPr/>
        </p:nvSpPr>
        <p:spPr>
          <a:xfrm>
            <a:off x="6137603" y="2761000"/>
            <a:ext cx="1643730" cy="1089000"/>
          </a:xfrm>
          <a:custGeom>
            <a:avLst/>
            <a:gdLst/>
            <a:ahLst/>
            <a:cxnLst/>
            <a:rect l="l" t="t" r="r" b="b"/>
            <a:pathLst>
              <a:path w="1643730" h="1089000">
                <a:moveTo>
                  <a:pt x="0" y="33000"/>
                </a:moveTo>
                <a:lnTo>
                  <a:pt x="1413730" y="0"/>
                </a:lnTo>
                <a:lnTo>
                  <a:pt x="1643730" y="539000"/>
                </a:lnTo>
                <a:lnTo>
                  <a:pt x="1413730" y="1045000"/>
                </a:lnTo>
                <a:lnTo>
                  <a:pt x="16604" y="1089000"/>
                </a:lnTo>
                <a:lnTo>
                  <a:pt x="167397" y="539000"/>
                </a:lnTo>
                <a:close/>
              </a:path>
            </a:pathLst>
          </a:custGeom>
          <a:solidFill>
            <a:srgbClr val="FFD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8000" y="2750000"/>
            <a:ext cx="1223333" cy="11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0000"/>
                </a:solidFill>
                <a:latin typeface="Roboto Condensed"/>
              </a:rPr>
              <a:t>Steg 4</a:t>
            </a:r>
          </a:p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0000"/>
                </a:solidFill>
                <a:latin typeface="Roboto Condensed"/>
              </a:rPr>
              <a:t>Bygg och integrera</a:t>
            </a:r>
          </a:p>
        </p:txBody>
      </p:sp>
      <p:sp>
        <p:nvSpPr>
          <p:cNvPr id="12" name="Freeform 11"/>
          <p:cNvSpPr/>
          <p:nvPr/>
        </p:nvSpPr>
        <p:spPr>
          <a:xfrm>
            <a:off x="7847937" y="2761000"/>
            <a:ext cx="1643730" cy="1089000"/>
          </a:xfrm>
          <a:custGeom>
            <a:avLst/>
            <a:gdLst/>
            <a:ahLst/>
            <a:cxnLst/>
            <a:rect l="l" t="t" r="r" b="b"/>
            <a:pathLst>
              <a:path w="1643730" h="1089000">
                <a:moveTo>
                  <a:pt x="0" y="33000"/>
                </a:moveTo>
                <a:lnTo>
                  <a:pt x="1413730" y="0"/>
                </a:lnTo>
                <a:lnTo>
                  <a:pt x="1643730" y="539000"/>
                </a:lnTo>
                <a:lnTo>
                  <a:pt x="1413730" y="1045000"/>
                </a:lnTo>
                <a:lnTo>
                  <a:pt x="16603" y="1089000"/>
                </a:lnTo>
                <a:lnTo>
                  <a:pt x="167396" y="539000"/>
                </a:lnTo>
                <a:close/>
              </a:path>
            </a:pathLst>
          </a:custGeom>
          <a:solidFill>
            <a:srgbClr val="1BA6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8333" y="2750000"/>
            <a:ext cx="1223333" cy="11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Roboto Condensed"/>
              </a:rPr>
              <a:t>Steg 5</a:t>
            </a:r>
          </a:p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Test och validering</a:t>
            </a:r>
          </a:p>
        </p:txBody>
      </p:sp>
      <p:sp>
        <p:nvSpPr>
          <p:cNvPr id="14" name="Freeform 13"/>
          <p:cNvSpPr/>
          <p:nvPr/>
        </p:nvSpPr>
        <p:spPr>
          <a:xfrm>
            <a:off x="9558270" y="2761000"/>
            <a:ext cx="1643730" cy="1089000"/>
          </a:xfrm>
          <a:custGeom>
            <a:avLst/>
            <a:gdLst/>
            <a:ahLst/>
            <a:cxnLst/>
            <a:rect l="l" t="t" r="r" b="b"/>
            <a:pathLst>
              <a:path w="1643730" h="1089000">
                <a:moveTo>
                  <a:pt x="0" y="33000"/>
                </a:moveTo>
                <a:lnTo>
                  <a:pt x="1413730" y="0"/>
                </a:lnTo>
                <a:lnTo>
                  <a:pt x="1643730" y="539000"/>
                </a:lnTo>
                <a:lnTo>
                  <a:pt x="1413730" y="1045000"/>
                </a:lnTo>
                <a:lnTo>
                  <a:pt x="16603" y="1089000"/>
                </a:lnTo>
                <a:lnTo>
                  <a:pt x="167397" y="539000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48666" y="2750000"/>
            <a:ext cx="1223333" cy="11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Roboto Condensed"/>
              </a:rPr>
              <a:t>Steg 6</a:t>
            </a:r>
          </a:p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Roboto Condensed"/>
              </a:rPr>
              <a:t>Produktion och skalning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0" y="4100000"/>
            <a:ext cx="1460333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C4A4A"/>
                </a:solidFill>
                <a:latin typeface="Roboto"/>
              </a:rPr>
              <a:t>Mål, processer och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0333" y="4100000"/>
            <a:ext cx="1460333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C4A4A"/>
                </a:solidFill>
                <a:latin typeface="Roboto"/>
              </a:rPr>
              <a:t>AI och integration som en helhet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666" y="4100000"/>
            <a:ext cx="1460333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C4A4A"/>
                </a:solidFill>
                <a:latin typeface="Roboto"/>
              </a:rPr>
              <a:t>Ett konkret fall med tydlig nytta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000" y="4100000"/>
            <a:ext cx="1460333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C4A4A"/>
                </a:solidFill>
                <a:latin typeface="Roboto"/>
              </a:rPr>
              <a:t>AI och integration byggs parallellt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333" y="4100000"/>
            <a:ext cx="1460333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C4A4A"/>
                </a:solidFill>
                <a:latin typeface="Roboto"/>
              </a:rPr>
              <a:t>Tekniskt och för verksamheten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666" y="4100000"/>
            <a:ext cx="1460333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C4A4A"/>
                </a:solidFill>
                <a:latin typeface="Roboto"/>
              </a:rPr>
              <a:t>Skala till nya use cases</a:t>
            </a:r>
          </a:p>
        </p:txBody>
      </p:sp>
      <p:pic>
        <p:nvPicPr>
          <p:cNvPr id="22" name="Picture 21" descr="ic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Steg 1 av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7550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000000"/>
                </a:solidFill>
                <a:latin typeface="Roboto Condensed Medium"/>
              </a:rPr>
              <a:t>AI &amp; Integration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200000"/>
            <a:ext cx="7250000" cy="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Vi börjar med att förstå mål, processer, systemlandskap och AI-möjligheter.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3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Vi kartlägger bland annat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3650000"/>
            <a:ext cx="360000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Use cases med störst potential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Data som AI behöver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Var datan finns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Berörda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40000" y="3650000"/>
            <a:ext cx="360000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Befintliga API och integrationer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Informations- och säkerhetskrav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Processer som ska påverkas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Tekniska begränsningar</a:t>
            </a:r>
          </a:p>
        </p:txBody>
      </p:sp>
      <p:pic>
        <p:nvPicPr>
          <p:cNvPr id="8" name="Picture 7" descr="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6080000"/>
            <a:ext cx="436363" cy="4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10000" y="6030000"/>
            <a:ext cx="693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0000"/>
                </a:solidFill>
                <a:latin typeface="Roboto"/>
              </a:rPr>
              <a:t>Resultat: en prioriterad roadmap över AI-initiativ och integrationsförmågor.</a:t>
            </a:r>
          </a:p>
        </p:txBody>
      </p:sp>
      <p:pic>
        <p:nvPicPr>
          <p:cNvPr id="10" name="Picture 9" descr="_web_kontor-21.jpg"/>
          <p:cNvPicPr>
            <a:picLocks noChangeAspect="1"/>
          </p:cNvPicPr>
          <p:nvPr/>
        </p:nvPicPr>
        <p:blipFill>
          <a:blip r:embed="rId3"/>
          <a:srcRect l="31452" r="31452"/>
          <a:stretch>
            <a:fillRect/>
          </a:stretch>
        </p:blipFill>
        <p:spPr>
          <a:xfrm>
            <a:off x="8800000" y="0"/>
            <a:ext cx="3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2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Steg 2 av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7550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000000"/>
                </a:solidFill>
                <a:latin typeface="Roboto Condensed Medium"/>
              </a:rPr>
              <a:t>Design av målarkitektur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200000"/>
            <a:ext cx="7250000" cy="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Vi tar fram en målarkitektur där AI och integration är en sammanhängande helhet.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3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Vi definierar bland annat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3650000"/>
            <a:ext cx="3600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AI-komponenter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Datakällor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API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Integrationsflöden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Event och meddelanden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40000" y="3650000"/>
            <a:ext cx="3600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Dataflöden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Säkerhet och identitet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Governance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Monitorering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Plattform och standarder</a:t>
            </a:r>
          </a:p>
        </p:txBody>
      </p:sp>
      <p:pic>
        <p:nvPicPr>
          <p:cNvPr id="8" name="Picture 7" descr="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6080000"/>
            <a:ext cx="477272" cy="4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10000" y="6030000"/>
            <a:ext cx="693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0000"/>
                </a:solidFill>
                <a:latin typeface="Roboto"/>
              </a:rPr>
              <a:t>Mål: en arkitektur för första use caset och kommande AI-tillämpningar.</a:t>
            </a:r>
          </a:p>
        </p:txBody>
      </p:sp>
      <p:pic>
        <p:nvPicPr>
          <p:cNvPr id="10" name="Picture 9" descr="_web_whiteboard-3.jpg"/>
          <p:cNvPicPr>
            <a:picLocks noChangeAspect="1"/>
          </p:cNvPicPr>
          <p:nvPr/>
        </p:nvPicPr>
        <p:blipFill>
          <a:blip r:embed="rId3"/>
          <a:srcRect l="31452" r="31452"/>
          <a:stretch>
            <a:fillRect/>
          </a:stretch>
        </p:blipFill>
        <p:spPr>
          <a:xfrm>
            <a:off x="8800000" y="0"/>
            <a:ext cx="3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2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10212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Steg 3 av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10212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Prioriterat AI-use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250000"/>
            <a:ext cx="8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Vi väljer ett konkret use case där nyttan är tydlig och definierar det tillsammans:</a:t>
            </a:r>
          </a:p>
        </p:txBody>
      </p:sp>
      <p:sp>
        <p:nvSpPr>
          <p:cNvPr id="5" name="Freeform 4"/>
          <p:cNvSpPr/>
          <p:nvPr/>
        </p:nvSpPr>
        <p:spPr>
          <a:xfrm>
            <a:off x="1006603" y="3410000"/>
            <a:ext cx="1643730" cy="990000"/>
          </a:xfrm>
          <a:custGeom>
            <a:avLst/>
            <a:gdLst/>
            <a:ahLst/>
            <a:cxnLst/>
            <a:rect l="l" t="t" r="r" b="b"/>
            <a:pathLst>
              <a:path w="1643730" h="990000">
                <a:moveTo>
                  <a:pt x="0" y="30000"/>
                </a:moveTo>
                <a:lnTo>
                  <a:pt x="1413730" y="0"/>
                </a:lnTo>
                <a:lnTo>
                  <a:pt x="1643730" y="490000"/>
                </a:lnTo>
                <a:lnTo>
                  <a:pt x="1413730" y="950000"/>
                </a:lnTo>
                <a:lnTo>
                  <a:pt x="16604" y="990000"/>
                </a:lnTo>
                <a:close/>
              </a:path>
            </a:pathLst>
          </a:custGeom>
          <a:solidFill>
            <a:srgbClr val="31AB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000" y="3400000"/>
            <a:ext cx="1384333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Roboto Condensed"/>
              </a:rPr>
              <a:t>Problem</a:t>
            </a:r>
          </a:p>
        </p:txBody>
      </p:sp>
      <p:sp>
        <p:nvSpPr>
          <p:cNvPr id="7" name="Freeform 6"/>
          <p:cNvSpPr/>
          <p:nvPr/>
        </p:nvSpPr>
        <p:spPr>
          <a:xfrm>
            <a:off x="2716937" y="3410000"/>
            <a:ext cx="1643730" cy="990000"/>
          </a:xfrm>
          <a:custGeom>
            <a:avLst/>
            <a:gdLst/>
            <a:ahLst/>
            <a:cxnLst/>
            <a:rect l="l" t="t" r="r" b="b"/>
            <a:pathLst>
              <a:path w="1643730" h="990000">
                <a:moveTo>
                  <a:pt x="0" y="30000"/>
                </a:moveTo>
                <a:lnTo>
                  <a:pt x="1413730" y="0"/>
                </a:lnTo>
                <a:lnTo>
                  <a:pt x="1643730" y="490000"/>
                </a:lnTo>
                <a:lnTo>
                  <a:pt x="1413730" y="950000"/>
                </a:lnTo>
                <a:lnTo>
                  <a:pt x="16603" y="990000"/>
                </a:lnTo>
                <a:lnTo>
                  <a:pt x="167396" y="490000"/>
                </a:lnTo>
                <a:close/>
              </a:path>
            </a:pathLst>
          </a:custGeom>
          <a:solidFill>
            <a:srgbClr val="F9B80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333" y="3400000"/>
            <a:ext cx="1223333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Roboto Condensed"/>
              </a:rPr>
              <a:t>AI-förmåga</a:t>
            </a:r>
          </a:p>
        </p:txBody>
      </p:sp>
      <p:sp>
        <p:nvSpPr>
          <p:cNvPr id="9" name="Freeform 8"/>
          <p:cNvSpPr/>
          <p:nvPr/>
        </p:nvSpPr>
        <p:spPr>
          <a:xfrm>
            <a:off x="4427270" y="3410000"/>
            <a:ext cx="1643730" cy="990000"/>
          </a:xfrm>
          <a:custGeom>
            <a:avLst/>
            <a:gdLst/>
            <a:ahLst/>
            <a:cxnLst/>
            <a:rect l="l" t="t" r="r" b="b"/>
            <a:pathLst>
              <a:path w="1643730" h="990000">
                <a:moveTo>
                  <a:pt x="0" y="30000"/>
                </a:moveTo>
                <a:lnTo>
                  <a:pt x="1413730" y="0"/>
                </a:lnTo>
                <a:lnTo>
                  <a:pt x="1643730" y="490000"/>
                </a:lnTo>
                <a:lnTo>
                  <a:pt x="1413730" y="950000"/>
                </a:lnTo>
                <a:lnTo>
                  <a:pt x="16603" y="990000"/>
                </a:lnTo>
                <a:lnTo>
                  <a:pt x="167397" y="490000"/>
                </a:lnTo>
                <a:close/>
              </a:path>
            </a:pathLst>
          </a:custGeom>
          <a:solidFill>
            <a:srgbClr val="E301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666" y="3400000"/>
            <a:ext cx="1223333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Roboto Condensed"/>
              </a:rPr>
              <a:t>Data</a:t>
            </a:r>
          </a:p>
        </p:txBody>
      </p:sp>
      <p:sp>
        <p:nvSpPr>
          <p:cNvPr id="11" name="Freeform 10"/>
          <p:cNvSpPr/>
          <p:nvPr/>
        </p:nvSpPr>
        <p:spPr>
          <a:xfrm>
            <a:off x="6137603" y="3410000"/>
            <a:ext cx="1643730" cy="990000"/>
          </a:xfrm>
          <a:custGeom>
            <a:avLst/>
            <a:gdLst/>
            <a:ahLst/>
            <a:cxnLst/>
            <a:rect l="l" t="t" r="r" b="b"/>
            <a:pathLst>
              <a:path w="1643730" h="990000">
                <a:moveTo>
                  <a:pt x="0" y="30000"/>
                </a:moveTo>
                <a:lnTo>
                  <a:pt x="1413730" y="0"/>
                </a:lnTo>
                <a:lnTo>
                  <a:pt x="1643730" y="490000"/>
                </a:lnTo>
                <a:lnTo>
                  <a:pt x="1413730" y="950000"/>
                </a:lnTo>
                <a:lnTo>
                  <a:pt x="16604" y="990000"/>
                </a:lnTo>
                <a:lnTo>
                  <a:pt x="167397" y="490000"/>
                </a:lnTo>
                <a:close/>
              </a:path>
            </a:pathLst>
          </a:custGeom>
          <a:solidFill>
            <a:srgbClr val="FFD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8000" y="3400000"/>
            <a:ext cx="1223333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Roboto Condensed"/>
              </a:rPr>
              <a:t>Integration</a:t>
            </a:r>
          </a:p>
        </p:txBody>
      </p:sp>
      <p:sp>
        <p:nvSpPr>
          <p:cNvPr id="13" name="Freeform 12"/>
          <p:cNvSpPr/>
          <p:nvPr/>
        </p:nvSpPr>
        <p:spPr>
          <a:xfrm>
            <a:off x="7847937" y="3410000"/>
            <a:ext cx="1643730" cy="990000"/>
          </a:xfrm>
          <a:custGeom>
            <a:avLst/>
            <a:gdLst/>
            <a:ahLst/>
            <a:cxnLst/>
            <a:rect l="l" t="t" r="r" b="b"/>
            <a:pathLst>
              <a:path w="1643730" h="990000">
                <a:moveTo>
                  <a:pt x="0" y="30000"/>
                </a:moveTo>
                <a:lnTo>
                  <a:pt x="1413730" y="0"/>
                </a:lnTo>
                <a:lnTo>
                  <a:pt x="1643730" y="490000"/>
                </a:lnTo>
                <a:lnTo>
                  <a:pt x="1413730" y="950000"/>
                </a:lnTo>
                <a:lnTo>
                  <a:pt x="16603" y="990000"/>
                </a:lnTo>
                <a:lnTo>
                  <a:pt x="167396" y="490000"/>
                </a:lnTo>
                <a:close/>
              </a:path>
            </a:pathLst>
          </a:custGeom>
          <a:solidFill>
            <a:srgbClr val="1BA6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8333" y="3400000"/>
            <a:ext cx="1223333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Roboto Condensed"/>
              </a:rPr>
              <a:t>Process</a:t>
            </a:r>
          </a:p>
        </p:txBody>
      </p:sp>
      <p:sp>
        <p:nvSpPr>
          <p:cNvPr id="15" name="Freeform 14"/>
          <p:cNvSpPr/>
          <p:nvPr/>
        </p:nvSpPr>
        <p:spPr>
          <a:xfrm>
            <a:off x="9558270" y="3410000"/>
            <a:ext cx="1643730" cy="990000"/>
          </a:xfrm>
          <a:custGeom>
            <a:avLst/>
            <a:gdLst/>
            <a:ahLst/>
            <a:cxnLst/>
            <a:rect l="l" t="t" r="r" b="b"/>
            <a:pathLst>
              <a:path w="1643730" h="990000">
                <a:moveTo>
                  <a:pt x="0" y="30000"/>
                </a:moveTo>
                <a:lnTo>
                  <a:pt x="1413730" y="0"/>
                </a:lnTo>
                <a:lnTo>
                  <a:pt x="1643730" y="490000"/>
                </a:lnTo>
                <a:lnTo>
                  <a:pt x="1413730" y="950000"/>
                </a:lnTo>
                <a:lnTo>
                  <a:pt x="16603" y="990000"/>
                </a:lnTo>
                <a:lnTo>
                  <a:pt x="167397" y="490000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8666" y="3400000"/>
            <a:ext cx="1223333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Roboto Condensed"/>
              </a:rPr>
              <a:t>Mätbar effekt</a:t>
            </a:r>
          </a:p>
        </p:txBody>
      </p:sp>
      <p:pic>
        <p:nvPicPr>
          <p:cNvPr id="17" name="Picture 16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4900000"/>
            <a:ext cx="573663" cy="110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90000" y="4950000"/>
            <a:ext cx="86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0000"/>
                </a:solidFill>
                <a:latin typeface="Roboto Condensed"/>
              </a:rPr>
              <a:t>Så kan vi snabbt visa värdet och samtidigt bygga komponenterna för fortsatt utveckling.</a:t>
            </a:r>
          </a:p>
        </p:txBody>
      </p:sp>
      <p:pic>
        <p:nvPicPr>
          <p:cNvPr id="19" name="Picture 18" descr="i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932" y="340000"/>
            <a:ext cx="716068" cy="7650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Steg 4 av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7550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000000"/>
                </a:solidFill>
                <a:latin typeface="Roboto Condensed Medium"/>
              </a:rPr>
              <a:t>Bygg och integrera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200000"/>
            <a:ext cx="7250000" cy="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AI-lösningen utvecklas parallellt med integrationsförmågan.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3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Vi etablerar exempelvis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3650000"/>
            <a:ext cx="3600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API mot verksamhetssystem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Dataflöden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Eventflöden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AI-tjänster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RAG och kunskapslösningar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40000" y="3650000"/>
            <a:ext cx="3600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AI-agenter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Workflow och orchestration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Säkerhet och åtkomst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Logging och monitorering</a:t>
            </a:r>
          </a:p>
        </p:txBody>
      </p:sp>
      <p:pic>
        <p:nvPicPr>
          <p:cNvPr id="8" name="Picture 7" descr="cloud-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6080000"/>
            <a:ext cx="395294" cy="4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10000" y="6030000"/>
            <a:ext cx="693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0000"/>
                </a:solidFill>
                <a:latin typeface="Roboto"/>
              </a:rPr>
              <a:t>AI integreras i verksamhetsprocessen, inte bara i ett system.</a:t>
            </a:r>
          </a:p>
        </p:txBody>
      </p:sp>
      <p:pic>
        <p:nvPicPr>
          <p:cNvPr id="10" name="Picture 9" descr="_web_dator-1.jpg"/>
          <p:cNvPicPr>
            <a:picLocks noChangeAspect="1"/>
          </p:cNvPicPr>
          <p:nvPr/>
        </p:nvPicPr>
        <p:blipFill>
          <a:blip r:embed="rId3"/>
          <a:srcRect l="31452" r="31452"/>
          <a:stretch>
            <a:fillRect/>
          </a:stretch>
        </p:blipFill>
        <p:spPr>
          <a:xfrm>
            <a:off x="8800000" y="0"/>
            <a:ext cx="3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2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0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Steg 5 av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000" y="1300000"/>
            <a:ext cx="7550000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000000"/>
                </a:solidFill>
                <a:latin typeface="Roboto Condensed Medium"/>
              </a:rPr>
              <a:t>Test och verksamhetsvalidering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000" y="2200000"/>
            <a:ext cx="7250000" cy="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4C4A4A"/>
                </a:solidFill>
                <a:latin typeface="Roboto Condensed"/>
              </a:rPr>
              <a:t>Lösningen testas både tekniskt och ur verksamhetsperspektiv.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300000"/>
            <a:ext cx="75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Vi verifierar bland annat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3650000"/>
            <a:ext cx="3600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AI-resultatens kvalitet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Datakvalitet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Integrationernas robusthet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Säkerhet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Prestanda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40000" y="3650000"/>
            <a:ext cx="3600000" cy="2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Felhantering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Spårbarhet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Användarupplevelse</a:t>
            </a:r>
          </a:p>
          <a:p>
            <a:pPr algn="l" marL="228600" indent="-228600">
              <a:lnSpc>
                <a:spcPct val="120000"/>
              </a:lnSpc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Roboto"/>
              </a:rPr>
              <a:t>Verksamhetsnytta</a:t>
            </a:r>
          </a:p>
        </p:txBody>
      </p:sp>
      <p:pic>
        <p:nvPicPr>
          <p:cNvPr id="8" name="Picture 7" descr="_web_kontor-19.jpg"/>
          <p:cNvPicPr>
            <a:picLocks noChangeAspect="1"/>
          </p:cNvPicPr>
          <p:nvPr/>
        </p:nvPicPr>
        <p:blipFill>
          <a:blip r:embed="rId2"/>
          <a:srcRect l="31452" r="31452"/>
          <a:stretch>
            <a:fillRect/>
          </a:stretch>
        </p:blipFill>
        <p:spPr>
          <a:xfrm>
            <a:off x="8800000" y="0"/>
            <a:ext cx="33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2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000" y="1350000"/>
            <a:ext cx="5800000" cy="50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Steg 6 av 6</a:t>
            </a:r>
          </a:p>
          <a:p>
            <a:pPr algn="l">
              <a:lnSpc>
                <a:spcPct val="95000"/>
              </a:lnSpc>
              <a:spcBef>
                <a:spcPts val="1200"/>
              </a:spcBef>
            </a:pPr>
            <a:r>
              <a:rPr sz="4800" b="0">
                <a:solidFill>
                  <a:srgbClr val="000000"/>
                </a:solidFill>
                <a:latin typeface="Roboto Condensed Medium"/>
              </a:rPr>
              <a:t>Produktionssättning och skalning</a:t>
            </a:r>
          </a:p>
          <a:p>
            <a:pPr algn="l">
              <a:lnSpc>
                <a:spcPct val="135000"/>
              </a:lnSpc>
              <a:spcBef>
                <a:spcPts val="2400"/>
              </a:spcBef>
            </a:pPr>
            <a:r>
              <a:rPr sz="2200" b="0">
                <a:solidFill>
                  <a:srgbClr val="000000"/>
                </a:solidFill>
                <a:latin typeface="Roboto"/>
              </a:rPr>
              <a:t>När lösningen är validerad etableras den för produktion.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2200" b="1">
                <a:solidFill>
                  <a:srgbClr val="000000"/>
                </a:solidFill>
                <a:latin typeface="Roboto"/>
              </a:rPr>
              <a:t>Därefter kan organisationen återanvända integrations- och AI-komponenterna för nya use cases.</a:t>
            </a:r>
          </a:p>
        </p:txBody>
      </p:sp>
      <p:pic>
        <p:nvPicPr>
          <p:cNvPr id="3" name="Picture 2" descr="_web_event-5.jpg"/>
          <p:cNvPicPr>
            <a:picLocks noChangeAspect="1"/>
          </p:cNvPicPr>
          <p:nvPr/>
        </p:nvPicPr>
        <p:blipFill>
          <a:blip r:embed="rId2"/>
          <a:srcRect l="24028" r="24028"/>
          <a:stretch>
            <a:fillRect/>
          </a:stretch>
        </p:blipFill>
        <p:spPr>
          <a:xfrm>
            <a:off x="7000000" y="0"/>
            <a:ext cx="51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1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web_kontor-20.jpg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Freeform 2"/>
          <p:cNvSpPr/>
          <p:nvPr/>
        </p:nvSpPr>
        <p:spPr>
          <a:xfrm>
            <a:off x="540000" y="2308000"/>
            <a:ext cx="8300000" cy="3900000"/>
          </a:xfrm>
          <a:custGeom>
            <a:avLst/>
            <a:gdLst/>
            <a:ahLst/>
            <a:cxnLst/>
            <a:rect l="l" t="t" r="r" b="b"/>
            <a:pathLst>
              <a:path w="8300000" h="3900000">
                <a:moveTo>
                  <a:pt x="0" y="117000"/>
                </a:moveTo>
                <a:lnTo>
                  <a:pt x="332000" y="0"/>
                </a:lnTo>
                <a:lnTo>
                  <a:pt x="8051000" y="78000"/>
                </a:lnTo>
                <a:lnTo>
                  <a:pt x="8300000" y="234000"/>
                </a:lnTo>
                <a:lnTo>
                  <a:pt x="8134000" y="3666000"/>
                </a:lnTo>
                <a:lnTo>
                  <a:pt x="7802000" y="3900000"/>
                </a:lnTo>
                <a:lnTo>
                  <a:pt x="166000" y="3783000"/>
                </a:lnTo>
                <a:lnTo>
                  <a:pt x="0" y="3627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000" y="2758000"/>
            <a:ext cx="7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cap="all" spc="182">
                <a:solidFill>
                  <a:srgbClr val="EC008C"/>
                </a:solidFill>
                <a:latin typeface="Roboto Condensed"/>
              </a:rPr>
              <a:t>Nästa steg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000" y="3108000"/>
            <a:ext cx="740000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000000"/>
                </a:solidFill>
                <a:latin typeface="Roboto Condensed Medium"/>
              </a:rPr>
              <a:t>Börja med en kartläggning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" y="3958000"/>
            <a:ext cx="7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4C4A4A"/>
                </a:solidFill>
                <a:latin typeface="Roboto"/>
              </a:rPr>
              <a:t>Vi tar reda på var AI kan skapa störst nytta hos er och vilka integrationer som krävs.</a:t>
            </a:r>
          </a:p>
        </p:txBody>
      </p:sp>
      <p:sp>
        <p:nvSpPr>
          <p:cNvPr id="7" name="Freeform 6"/>
          <p:cNvSpPr/>
          <p:nvPr/>
        </p:nvSpPr>
        <p:spPr>
          <a:xfrm>
            <a:off x="990000" y="4958000"/>
            <a:ext cx="2385336" cy="560000"/>
          </a:xfrm>
          <a:custGeom>
            <a:avLst/>
            <a:gdLst/>
            <a:ahLst/>
            <a:cxnLst/>
            <a:rect l="l" t="t" r="r" b="b"/>
            <a:pathLst>
              <a:path w="2385336" h="560000">
                <a:moveTo>
                  <a:pt x="47707" y="28000"/>
                </a:moveTo>
                <a:lnTo>
                  <a:pt x="2361483" y="0"/>
                </a:lnTo>
                <a:lnTo>
                  <a:pt x="2385336" y="492800"/>
                </a:lnTo>
                <a:lnTo>
                  <a:pt x="2313776" y="560000"/>
                </a:lnTo>
                <a:lnTo>
                  <a:pt x="0" y="532000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000" y="4958000"/>
            <a:ext cx="2385336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72">
                <a:solidFill>
                  <a:srgbClr val="FFFFFF"/>
                </a:solidFill>
                <a:latin typeface="Roboto Condensed Medium"/>
              </a:rPr>
              <a:t>Prata med 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000" y="5708000"/>
            <a:ext cx="74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C008C"/>
                </a:solidFill>
                <a:latin typeface="Roboto Condensed"/>
              </a:rPr>
              <a:t>Magello   </a:t>
            </a:r>
            <a:r>
              <a:rPr sz="1300" b="1">
                <a:solidFill>
                  <a:srgbClr val="4C4A4A"/>
                </a:solidFill>
                <a:latin typeface="Roboto"/>
              </a:rPr>
              <a:t>info@magello.se   ·   Västgötagatan 2, 118 27 Stockholm</a:t>
            </a:r>
          </a:p>
        </p:txBody>
      </p:sp>
    </p:spTree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+ Integration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